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3b8db6e7684e95" /><Relationship Type="http://schemas.openxmlformats.org/officeDocument/2006/relationships/extended-properties" Target="/docProps/app.xml" Id="R8b9e590ee8f249b1" /><Relationship Type="http://schemas.openxmlformats.org/officeDocument/2006/relationships/officeDocument" Target="/ppt/presentation.xml" Id="R016c0096b26747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5a82718cfa41bc"/>
  </p:sldMasterIdLst>
  <p:notesMasterIdLst>
    <p:notesMasterId xmlns:r="http://schemas.openxmlformats.org/officeDocument/2006/relationships" r:id="R47d15d43f64e4814"/>
  </p:notesMasterIdLst>
  <p:sldIdLst>
    <p:sldId xmlns:r="http://schemas.openxmlformats.org/officeDocument/2006/relationships" id="256" r:id="Ra2d1c7c084b94eed"/>
    <p:sldId xmlns:r="http://schemas.openxmlformats.org/officeDocument/2006/relationships" id="257" r:id="Re93d699441644340"/>
    <p:sldId xmlns:r="http://schemas.openxmlformats.org/officeDocument/2006/relationships" id="258" r:id="R34b2620f94554f07"/>
    <p:sldId xmlns:r="http://schemas.openxmlformats.org/officeDocument/2006/relationships" id="259" r:id="Rc645fedb303949db"/>
    <p:sldId xmlns:r="http://schemas.openxmlformats.org/officeDocument/2006/relationships" id="260" r:id="R9050f005fe1b4ec3"/>
    <p:sldId xmlns:r="http://schemas.openxmlformats.org/officeDocument/2006/relationships" id="261" r:id="Rac198873fa7a4fb8"/>
    <p:sldId xmlns:r="http://schemas.openxmlformats.org/officeDocument/2006/relationships" id="262" r:id="R039a74c74eb14cc8"/>
    <p:sldId xmlns:r="http://schemas.openxmlformats.org/officeDocument/2006/relationships" id="263" r:id="Re8c4bf4c99304a7d"/>
    <p:sldId xmlns:r="http://schemas.openxmlformats.org/officeDocument/2006/relationships" id="264" r:id="R35f6c69ccc6842d4"/>
    <p:sldId xmlns:r="http://schemas.openxmlformats.org/officeDocument/2006/relationships" id="265" r:id="Rc8709dbdd99942a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5a82718cfa41bc" /><Relationship Type="http://schemas.openxmlformats.org/officeDocument/2006/relationships/theme" Target="/ppt/theme/theme1.xml" Id="Rc0ec7f4606bf467d" /><Relationship Type="http://schemas.openxmlformats.org/officeDocument/2006/relationships/notesMaster" Target="/ppt/notesMasters/notesMaster1.xml" Id="R47d15d43f64e4814" /><Relationship Type="http://schemas.openxmlformats.org/officeDocument/2006/relationships/presProps" Target="/ppt/presProps.xml" Id="R414e9918aeed4de4" /><Relationship Type="http://schemas.openxmlformats.org/officeDocument/2006/relationships/viewProps" Target="/ppt/viewProps.xml" Id="Rd0d868fb69114c1d" /><Relationship Type="http://schemas.openxmlformats.org/officeDocument/2006/relationships/tableStyles" Target="/ppt/tableStyles.xml" Id="Rd0771bba5ccf4a90" /><Relationship Type="http://schemas.openxmlformats.org/officeDocument/2006/relationships/slide" Target="/ppt/slides/slide1.xml" Id="Ra2d1c7c084b94eed" /><Relationship Type="http://schemas.openxmlformats.org/officeDocument/2006/relationships/slide" Target="/ppt/slides/slide2.xml" Id="Re93d699441644340" /><Relationship Type="http://schemas.openxmlformats.org/officeDocument/2006/relationships/slide" Target="/ppt/slides/slide3.xml" Id="R34b2620f94554f07" /><Relationship Type="http://schemas.openxmlformats.org/officeDocument/2006/relationships/slide" Target="/ppt/slides/slide4.xml" Id="Rc645fedb303949db" /><Relationship Type="http://schemas.openxmlformats.org/officeDocument/2006/relationships/slide" Target="/ppt/slides/slide5.xml" Id="R9050f005fe1b4ec3" /><Relationship Type="http://schemas.openxmlformats.org/officeDocument/2006/relationships/slide" Target="/ppt/slides/slide6.xml" Id="Rac198873fa7a4fb8" /><Relationship Type="http://schemas.openxmlformats.org/officeDocument/2006/relationships/slide" Target="/ppt/slides/slide7.xml" Id="R039a74c74eb14cc8" /><Relationship Type="http://schemas.openxmlformats.org/officeDocument/2006/relationships/slide" Target="/ppt/slides/slide8.xml" Id="Re8c4bf4c99304a7d" /><Relationship Type="http://schemas.openxmlformats.org/officeDocument/2006/relationships/slide" Target="/ppt/slides/slide9.xml" Id="R35f6c69ccc6842d4" /><Relationship Type="http://schemas.openxmlformats.org/officeDocument/2006/relationships/slide" Target="/ppt/slides/slide10.xml" Id="Rc8709dbdd99942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677c5db817145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5c5be238af4df8" /><Relationship Type="http://schemas.openxmlformats.org/officeDocument/2006/relationships/notesMaster" Target="/ppt/notesMasters/notesMaster1.xml" Id="R37fb1c7d948d48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6bbbbfe0914a35" /><Relationship Type="http://schemas.openxmlformats.org/officeDocument/2006/relationships/notesMaster" Target="/ppt/notesMasters/notesMaster1.xml" Id="Rc213fccadcd448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ffde710c3e4302" /><Relationship Type="http://schemas.openxmlformats.org/officeDocument/2006/relationships/notesMaster" Target="/ppt/notesMasters/notesMaster1.xml" Id="Rae30b5c08b484f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314e9f809b4bdb" /><Relationship Type="http://schemas.openxmlformats.org/officeDocument/2006/relationships/notesMaster" Target="/ppt/notesMasters/notesMaster1.xml" Id="Refc06e1492354d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b76412818e477b" /><Relationship Type="http://schemas.openxmlformats.org/officeDocument/2006/relationships/notesMaster" Target="/ppt/notesMasters/notesMaster1.xml" Id="R8653fdc9e68e4e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0a7345dbbb4ddc" /><Relationship Type="http://schemas.openxmlformats.org/officeDocument/2006/relationships/notesMaster" Target="/ppt/notesMasters/notesMaster1.xml" Id="Rad32b6b52b1d4a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93ba96d62f43fb" /><Relationship Type="http://schemas.openxmlformats.org/officeDocument/2006/relationships/notesMaster" Target="/ppt/notesMasters/notesMaster1.xml" Id="Rb1e6f50d16cb44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806b44fb2b4a18" /><Relationship Type="http://schemas.openxmlformats.org/officeDocument/2006/relationships/notesMaster" Target="/ppt/notesMasters/notesMaster1.xml" Id="R7e074e65fee74b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d8df0286aa4d11" /><Relationship Type="http://schemas.openxmlformats.org/officeDocument/2006/relationships/notesMaster" Target="/ppt/notesMasters/notesMaster1.xml" Id="R650e16cb0f424f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3486f7017d4727" /><Relationship Type="http://schemas.openxmlformats.org/officeDocument/2006/relationships/notesMaster" Target="/ppt/notesMasters/notesMaster1.xml" Id="Rfa2f967474bb41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architectural thesis: intelligence is reusable across applications only when its facts, time boundaries, and evidence are trustworthy.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docs/LOCKED-ARCHITECTURE.md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Emphasize that the graph enriches—not replaces—the relational system of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docs/LOCKED-ARCHITECTURE.md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impossible travel as the concrete example: Singapore at 09:00 and USA at 10:00 are both stored; the warning is derived.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docs/LOCKED-ARCHITECTURE.md</a:t>
            </a:r>
          </a:p>
          <a:p xmlns:a="http://schemas.openxmlformats.org/drawingml/2006/main">
            <a:r>
              <a:t>- Repository unit, integration, and scenario tests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operational reason the graph is safe to use: it can fail independently without corrupting authoritative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docs/LOCKED-ARCHITECTURE.md</a:t>
            </a:r>
          </a:p>
          <a:p xmlns:a="http://schemas.openxmlformats.org/drawingml/2006/main">
            <a:r>
              <a:t>- docs/features/README.md and capability documents 01-12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the boundary: direct facts stay relational; graph traversal is used where relationship depth is the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docs/LOCKED-ARCHITECTURE.md</a:t>
            </a:r>
          </a:p>
          <a:p xmlns:a="http://schemas.openxmlformats.org/drawingml/2006/main">
            <a:r>
              <a:t>- docs/features/README.md and capability documents 01-12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missing graph data is explicitly unavailable—not silently converted to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docs/features/README.md and capability documents 01-12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 the separation fact → feature → inference → prediction and why it improves debugging and governance.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docs/features/README.md and capability documents 01-12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the three domains while highlighting the common contract: evidence, uncertainty, and governed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docs/features/README.md and capability documents 01-12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List the twin lenses: Observed, Recent, Historical, Relationships, Inferred, Predicted, Unknown, Recommended, Warnings.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docs/LOCKED-ARCHITECTURE.md</a:t>
            </a:r>
          </a:p>
          <a:p xmlns:a="http://schemas.openxmlformats.org/drawingml/2006/main">
            <a:r>
              <a:t>- docs/features/README.md and capability documents 01-12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inviting discussion in order: temporal core, graph, features, memory, models, twin, decisions, Copilot.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docs/features/README.md and capability documents 01-12</a:t>
            </a:r>
          </a:p>
          <a:p xmlns:a="http://schemas.openxmlformats.org/drawingml/2006/main">
            <a:r>
              <a:t>- Repository unit, integration, and scenario tests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b9ade8044b4db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63B14AE9-407D-4D0D-9320-B9B969F765EF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8F45D85C-CB33-4314-991B-45385A34761F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3AA61C-2A97-4199-B0C8-3784651E031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7EBA1D-5A71-4E05-AA92-0D1957E38D9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261E28E-3EF1-4606-9B34-B7041E23CED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be85c7bc9f54550" /><Relationship Type="http://schemas.openxmlformats.org/officeDocument/2006/relationships/slideLayout" Target="/ppt/slideLayouts/slideLayout2.xml" Id="Rac7339d4caca4b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6C57-BF7F-49C4-8B35-067A440C88D7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7339d4caca4b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702797594a4c42" /><Relationship Type="http://schemas.openxmlformats.org/officeDocument/2006/relationships/image" Target="/ppt/media/image.png" Id="R1ed3d3a864564656" /><Relationship Type="http://schemas.openxmlformats.org/officeDocument/2006/relationships/notesSlide" Target="/ppt/notesSlides/notesSlide1.xml" Id="R51f77b54107f4a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60ae7352d9435b" /><Relationship Type="http://schemas.openxmlformats.org/officeDocument/2006/relationships/image" Target="/ppt/media/image2.png" Id="Rdf51d798ebd44ee4" /><Relationship Type="http://schemas.openxmlformats.org/officeDocument/2006/relationships/notesSlide" Target="/ppt/notesSlides/notesSlide2.xml" Id="R009c7f5d3e5c48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0b2e2558344538" /><Relationship Type="http://schemas.openxmlformats.org/officeDocument/2006/relationships/image" Target="/ppt/media/image3.png" Id="R53416e91580748fa" /><Relationship Type="http://schemas.openxmlformats.org/officeDocument/2006/relationships/notesSlide" Target="/ppt/notesSlides/notesSlide3.xml" Id="R3c5cf17c36ea4e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a727d5fbfe448d" /><Relationship Type="http://schemas.openxmlformats.org/officeDocument/2006/relationships/image" Target="/ppt/media/image4.png" Id="R886d25cf70714d6d" /><Relationship Type="http://schemas.openxmlformats.org/officeDocument/2006/relationships/notesSlide" Target="/ppt/notesSlides/notesSlide4.xml" Id="R96df3291e08740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c02592dcfe4b8d" /><Relationship Type="http://schemas.openxmlformats.org/officeDocument/2006/relationships/image" Target="/ppt/media/image5.png" Id="R12172c5637544b19" /><Relationship Type="http://schemas.openxmlformats.org/officeDocument/2006/relationships/notesSlide" Target="/ppt/notesSlides/notesSlide5.xml" Id="R3d0780ba5c6c43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7afe96215740be" /><Relationship Type="http://schemas.openxmlformats.org/officeDocument/2006/relationships/image" Target="/ppt/media/image6.png" Id="R2d8e8bdf593446c7" /><Relationship Type="http://schemas.openxmlformats.org/officeDocument/2006/relationships/notesSlide" Target="/ppt/notesSlides/notesSlide6.xml" Id="R22a931689db04e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0dae4f8ca04ef8" /><Relationship Type="http://schemas.openxmlformats.org/officeDocument/2006/relationships/image" Target="/ppt/media/image7.png" Id="Rdb0e44c8d45244f6" /><Relationship Type="http://schemas.openxmlformats.org/officeDocument/2006/relationships/notesSlide" Target="/ppt/notesSlides/notesSlide7.xml" Id="Rae6a3340cef642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4408dcaf2f4364" /><Relationship Type="http://schemas.openxmlformats.org/officeDocument/2006/relationships/image" Target="/ppt/media/image8.png" Id="R464a0a742c204264" /><Relationship Type="http://schemas.openxmlformats.org/officeDocument/2006/relationships/notesSlide" Target="/ppt/notesSlides/notesSlide8.xml" Id="R851588ee1ac742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2f0e63535d4b3f" /><Relationship Type="http://schemas.openxmlformats.org/officeDocument/2006/relationships/image" Target="/ppt/media/image9.png" Id="R707b5942f01b4436" /><Relationship Type="http://schemas.openxmlformats.org/officeDocument/2006/relationships/notesSlide" Target="/ppt/notesSlides/notesSlide9.xml" Id="R83bf1b087a1947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d26e3a84ad4df7" /><Relationship Type="http://schemas.openxmlformats.org/officeDocument/2006/relationships/image" Target="/ppt/media/image10.png" Id="Reb47f93e39c947dc" /><Relationship Type="http://schemas.openxmlformats.org/officeDocument/2006/relationships/notesSlide" Target="/ppt/notesSlides/notesSlide10.xml" Id="R4d0d59a6ade346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261E28E-3EF1-4606-9B34-B7041E23CE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d3d3a86456465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04899-A4E6-4D95-ABDD-CC5A9C7C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3B7C5-0954-4F28-86AE-7D1D3830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AB41C-FBA6-4F4C-A7C6-B7C08268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TELCO DIGITAL · TECHNICAL WALKTHROUGH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943B1-27A7-4E2A-B2A3-BD2F453D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AF2FF"/>
                </a:solidFill>
              </a:defRPr>
            </a:pPr>
            <a:r>
              <a:rPr sz="3600" b="1">
                <a:solidFill>
                  <a:srgbClr val="EAF2FF"/>
                </a:solidFill>
              </a:rPr>
              <a:t>From operational events to explainable decisions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3C2230-5DD1-4DDD-A611-1A8B6AF2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9D3"/>
                </a:solidFill>
              </a:defRPr>
            </a:pPr>
            <a:r>
              <a:rPr sz="1500" b="0">
                <a:solidFill>
                  <a:srgbClr val="A9B9D3"/>
                </a:solidFill>
              </a:rPr>
              <a:t>A shared-intelligence platform built on trustworthy facts, time-aware context, and relationship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5454A-1154-4B64-973C-EB6C3F29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7C2A8-EBB6-45FC-B899-9411AEA3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AF2FF"/>
                </a:solidFill>
              </a:defRPr>
            </a:pPr>
            <a:r>
              <a:rPr sz="1725" b="1">
                <a:solidFill>
                  <a:srgbClr val="EAF2FF"/>
                </a:solidFill>
              </a:rPr>
              <a:t>PostgreSQL facts + Neo4j context + governed decisions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7463B-B23A-4CF8-AD47-B44C1A90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90B2"/>
                </a:solidFill>
              </a:defRPr>
            </a:pPr>
            <a:r>
              <a:rPr sz="750" b="0">
                <a:solidFill>
                  <a:srgbClr val="7890B2"/>
                </a:solidFill>
              </a:rPr>
              <a:t>TELCO DIGITAL  ·  SHARED INTELLIGENCE POC</a:t>
            </a:r>
          </a:p>
        </p:txBody>
      </p:sp>
    </p:spTree>
    <p:extLst>
      <p:ext uri="{BB962C8B-B14F-4D97-AF65-F5344CB8AC3E}">
        <p14:creationId xmlns:p14="http://schemas.microsoft.com/office/powerpoint/2010/main" val="9510266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261E28E-3EF1-4606-9B34-B7041E23CE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1d798ebd44ee4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750C0-8E71-475E-8EA2-A5C59411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6EFF3-F617-4418-B2FD-28E92384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01 · FOUNDATION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A7A61-B68C-4C2C-83C4-22A890BC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02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3A2F3-C27A-4664-B843-D87B8FE5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5AF6C-9A68-47A0-A85C-B5F3A18F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19050">
            <a:solidFill>
              <a:srgbClr val="EAF2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407D5-D0E0-432D-9ABB-002AC8FB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AF2FF"/>
                </a:solidFill>
              </a:defRPr>
            </a:pPr>
            <a:r>
              <a:rPr sz="3000" b="1">
                <a:solidFill>
                  <a:srgbClr val="EAF2FF"/>
                </a:solidFill>
              </a:rPr>
              <a:t>One source of truth. Many intelligence consumers.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45B59-815C-43A9-9C42-587BC22D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9D3"/>
                </a:solidFill>
              </a:defRPr>
            </a:pPr>
            <a:r>
              <a:rPr sz="1425" b="0">
                <a:solidFill>
                  <a:srgbClr val="A9B9D3"/>
                </a:solidFill>
              </a:rPr>
              <a:t>The stack separates authoritative facts, relationship projection, derived intelligence, and presentation.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EF966-3DF4-4213-BE76-A83E2F85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05760-7525-4A14-93C4-737C7941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7B2FC-E8ED-458D-9753-5B3ACCD5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BDE48C-082D-4778-A313-770E4E54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9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E6A848-2A9E-460A-B1C4-2F78DBF0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43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F95A2D-5A97-4EC8-AC9A-F978292A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BCDB55-E869-4228-A8A3-1C32D22E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E8F9"/>
                </a:solidFill>
              </a:defRPr>
            </a:pPr>
            <a:r>
              <a:rPr sz="1125" b="1">
                <a:solidFill>
                  <a:srgbClr val="67E8F9"/>
                </a:solidFill>
              </a:rPr>
              <a:t>POSTGRESQL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9C30C3-93EC-4E89-9ED5-07971535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Domain facts, ledgers,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immutable activity events,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and the transactional outbox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remain authoritative.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1F730-5531-43B9-A096-A91FE746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3BC457-010C-4F13-AADE-944DAFF5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6E06C9-2CD7-428B-A36B-2FD36C97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1124F-E653-4602-B74A-CA11CF1E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26AA12-04E1-491B-A087-28937553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B703E5-B597-4FF4-A678-11F00526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81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DBD945-20B7-4656-B82F-D6F05B37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E8F9"/>
                </a:solidFill>
              </a:defRPr>
            </a:pPr>
            <a:r>
              <a:rPr sz="1125" b="1">
                <a:solidFill>
                  <a:srgbClr val="67E8F9"/>
                </a:solidFill>
              </a:rPr>
              <a:t>NEO4J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83D0BE-261B-499D-B9E9-8C51D98F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339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An idempotent worker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projects rebuildable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relationship context—never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changing scores as facts.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307C7B-B145-4F0A-936D-E300310E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4C5759-733B-4512-9E86-7DA304AB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AEDBEB-AE9A-44E1-BA27-C5078966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FB3FEB-4E17-4E68-BAFF-1819856C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86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97A354-AAAF-4F20-A0CB-FBE6CD81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71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942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75A0BC-BBBC-43FF-AED9-1DA93EE0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57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060F1C-91DC-48BB-9DC3-8D08EE91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E8F9"/>
                </a:solidFill>
              </a:defRPr>
            </a:pPr>
            <a:r>
              <a:rPr sz="1125" b="1">
                <a:solidFill>
                  <a:srgbClr val="67E8F9"/>
                </a:solidFill>
              </a:rPr>
              <a:t>INTELLIGENCE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770550-13B5-40D3-BBCE-DCC7B4B3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339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Temporal and graph features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feed twins, decisions,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explanations, APIs, UI, and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Copilot.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21E567-2E94-427F-BECC-CA41207E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90B2"/>
                </a:solidFill>
              </a:defRPr>
            </a:pPr>
            <a:r>
              <a:rPr sz="750" b="0">
                <a:solidFill>
                  <a:srgbClr val="7890B2"/>
                </a:solidFill>
              </a:rPr>
              <a:t>TELCO DIGITAL  ·  SHARED INTELLIGENCE POC</a:t>
            </a:r>
          </a:p>
        </p:txBody>
      </p:sp>
    </p:spTree>
    <p:extLst>
      <p:ext uri="{BB962C8B-B14F-4D97-AF65-F5344CB8AC3E}">
        <p14:creationId xmlns:p14="http://schemas.microsoft.com/office/powerpoint/2010/main" val="234975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261E28E-3EF1-4606-9B34-B7041E23CE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16e91580748fa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65670-F6B3-4D25-A9AA-FBA3B42B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BA736-EB00-4695-91F0-75E25CEA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02 · TEMPORAL 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53A7F-4C3E-416B-9DEC-BC097ABA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03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4A36C-8866-47FE-B847-787F1FD9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A40B7-9F38-4712-90AF-939EC27A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19050">
            <a:solidFill>
              <a:srgbClr val="EAF2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7B5C1-A5A7-4473-B5FD-9F4213E1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AF2FF"/>
                </a:solidFill>
              </a:defRPr>
            </a:pPr>
            <a:r>
              <a:rPr sz="3000" b="1">
                <a:solidFill>
                  <a:srgbClr val="EAF2FF"/>
                </a:solidFill>
              </a:rPr>
              <a:t>Correctness before intelligence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3A43A-EF30-4963-8444-5DB26030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9D3"/>
                </a:solidFill>
              </a:defRPr>
            </a:pPr>
            <a:r>
              <a:rPr sz="1425" b="0">
                <a:solidFill>
                  <a:srgbClr val="A9B9D3"/>
                </a:solidFill>
              </a:rPr>
              <a:t>Every feature, prediction, and decision is bounded by the selected point in time.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8C15D-5938-43D6-B19D-1FB1DD46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697D4-6269-421C-9FF1-4A4E6F59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2DF9D5-7D83-464B-B17E-DE689C47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</a:defRPr>
            </a:pPr>
            <a:r>
              <a:rPr sz="2550" b="1">
                <a:solidFill>
                  <a:srgbClr val="EAF2FF"/>
                </a:solidFill>
              </a:rPr>
              <a:t>as_of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A60DF5-6985-4286-B245-C3854A39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9D3"/>
                </a:solidFill>
              </a:defRPr>
            </a:pPr>
            <a:r>
              <a:rPr sz="1200" b="0">
                <a:solidFill>
                  <a:srgbClr val="A9B9D3"/>
                </a:solidFill>
              </a:rPr>
              <a:t>Hard boundary for every calculation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262B81-60E9-4F9F-BA81-AE0038D4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90B2"/>
                </a:solidFill>
              </a:defRPr>
            </a:pPr>
            <a:r>
              <a:rPr sz="750" b="0">
                <a:solidFill>
                  <a:srgbClr val="7890B2"/>
                </a:solidFill>
              </a:rPr>
              <a:t>No future leakage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98F91E-A3C3-4412-B60E-8A7FB5B4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AE05A1-03B3-45FC-AB57-93A04F6E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5FD26-70F8-4452-8B84-4646B558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</a:defRPr>
            </a:pPr>
            <a:r>
              <a:rPr sz="2550" b="1">
                <a:solidFill>
                  <a:srgbClr val="EAF2FF"/>
                </a:solidFill>
              </a:rPr>
              <a:t>2 clocks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E08D31-72D0-40A9-9EB2-8FAAE596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9D3"/>
                </a:solidFill>
              </a:defRPr>
            </a:pPr>
            <a:r>
              <a:rPr sz="1200" b="0">
                <a:solidFill>
                  <a:srgbClr val="A9B9D3"/>
                </a:solidFill>
              </a:rPr>
              <a:t>occurred_at + recorded_at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CB2C37-7880-4987-B991-8570B38F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90B2"/>
                </a:solidFill>
              </a:defRPr>
            </a:pPr>
            <a:r>
              <a:rPr sz="750" b="0">
                <a:solidFill>
                  <a:srgbClr val="7890B2"/>
                </a:solidFill>
              </a:rPr>
              <a:t>Event-time and ingestion-time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0E3D7B-2CBE-424A-B096-C74B3AB8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A3AF16-339A-486E-B8F6-EF665DCE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8BACEA-99C9-4C32-8B29-B368B0BE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</a:defRPr>
            </a:pPr>
            <a:r>
              <a:rPr sz="2550" b="1">
                <a:solidFill>
                  <a:srgbClr val="EAF2FF"/>
                </a:solidFill>
              </a:rPr>
              <a:t>immutable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D2B58-AFA7-4E77-A6EC-EDFFF3C3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9D3"/>
                </a:solidFill>
              </a:defRPr>
            </a:pPr>
            <a:r>
              <a:rPr sz="1200" b="0">
                <a:solidFill>
                  <a:srgbClr val="A9B9D3"/>
                </a:solidFill>
              </a:rPr>
              <a:t>Contradictions stay in history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F2555C-DBB2-44E3-B095-A18E40E2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90B2"/>
                </a:solidFill>
              </a:defRPr>
            </a:pPr>
            <a:r>
              <a:rPr sz="750" b="0">
                <a:solidFill>
                  <a:srgbClr val="7890B2"/>
                </a:solidFill>
              </a:rPr>
              <a:t>Warnings surface anomalies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D5BC39-15C3-4D88-8242-E2DFF892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90B2"/>
                </a:solidFill>
              </a:defRPr>
            </a:pPr>
            <a:r>
              <a:rPr sz="750" b="0">
                <a:solidFill>
                  <a:srgbClr val="7890B2"/>
                </a:solidFill>
              </a:rPr>
              <a:t>TELCO DIGITAL  ·  SHARED INTELLIGENCE POC</a:t>
            </a:r>
          </a:p>
        </p:txBody>
      </p:sp>
    </p:spTree>
    <p:extLst>
      <p:ext uri="{BB962C8B-B14F-4D97-AF65-F5344CB8AC3E}">
        <p14:creationId xmlns:p14="http://schemas.microsoft.com/office/powerpoint/2010/main" val="11766896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261E28E-3EF1-4606-9B34-B7041E23CE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6d25cf70714d6d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04976-6A91-4E0D-B0D4-BC18CB1B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53D6F-B45A-46F4-9060-8BA4A7ED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03 · GRAPH PROJECTION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1B46F-476C-4ACC-B952-6C41D6FA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04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9875C-3E64-49DF-8D14-17BDDCFE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9C1BA-3C70-4A7D-84C6-7D56FA46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19050">
            <a:solidFill>
              <a:srgbClr val="EAF2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9F9C1-A8A2-4CD9-97F9-C1B4DA8B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AF2FF"/>
                </a:solidFill>
              </a:defRPr>
            </a:pPr>
            <a:r>
              <a:rPr sz="3000" b="1">
                <a:solidFill>
                  <a:srgbClr val="EAF2FF"/>
                </a:solidFill>
              </a:rPr>
              <a:t>Replayable graph projection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1AFAE-224C-4CA6-988E-B35E8960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9D3"/>
                </a:solidFill>
              </a:defRPr>
            </a:pPr>
            <a:r>
              <a:rPr sz="1425" b="0">
                <a:solidFill>
                  <a:srgbClr val="A9B9D3"/>
                </a:solidFill>
              </a:rPr>
              <a:t>The transactional outbox makes relationship projection reliable, idempotent, and auditable.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09908-CC33-417D-80E7-268059D9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6AC4E-B034-40C1-9830-32D15688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896BA5-05F9-4E32-90E0-430E5542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FA912-CFAA-4FB0-8D8A-85A64181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9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656BE9-3360-44D5-882D-7556A2C0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43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78D621-1BBD-4238-9AAD-EEBB7CCD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B2FD32-D520-4FCC-88A5-FC938E1D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E8F9"/>
                </a:solidFill>
              </a:defRPr>
            </a:pPr>
            <a:r>
              <a:rPr sz="1125" b="1">
                <a:solidFill>
                  <a:srgbClr val="67E8F9"/>
                </a:solidFill>
              </a:rPr>
              <a:t>ONE TRANSACTION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A23669-FE03-4CBA-901C-E49263D5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Domain write + activity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event + outbox event commit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or roll back together.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59C61A-39CA-4C54-8D28-44B6D911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401AA-FB20-42C7-832D-15CE3B16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559107-BDF5-4D84-85AF-FAB02670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9AB8C7-9455-44CB-9700-A82E311E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26AC7F-99A0-49A5-B477-8B696B3D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61B297-D740-4392-8726-086FC993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81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093039-7B9D-4A2F-9265-2ECBAA23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E8F9"/>
                </a:solidFill>
              </a:defRPr>
            </a:pPr>
            <a:r>
              <a:rPr sz="1125" b="1">
                <a:solidFill>
                  <a:srgbClr val="67E8F9"/>
                </a:solidFill>
              </a:rPr>
              <a:t>PROJECT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FA094E-8963-462D-9D16-BA780D81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339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The worker claims pending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events and applies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parameterized Cypher with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idempotent MERGE operations.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33D18D-64AC-4877-B0F2-9345299A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015578-224D-41C5-953F-F48D023E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AA5E97-6C85-4D19-8104-306EA673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22FD4C-25A3-4200-BB60-BDC01290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86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F4C3DB-590F-4169-878E-F52571C6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71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942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B06D77-8DBF-4EF9-83D6-7FE9CAC0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57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3FF6BB-07B5-4DAA-95E2-5AFF002A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E8F9"/>
                </a:solidFill>
              </a:defRPr>
            </a:pPr>
            <a:r>
              <a:rPr sz="1125" b="1">
                <a:solidFill>
                  <a:srgbClr val="67E8F9"/>
                </a:solidFill>
              </a:rPr>
              <a:t>REBUILD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2B39D4-56DE-4DC1-BB8B-36BAAB95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339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If Neo4j is corrupted, clear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it and replay PostgreSQL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facts and events from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scratch.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AD4412-468B-4A39-924A-8C27D413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90B2"/>
                </a:solidFill>
              </a:defRPr>
            </a:pPr>
            <a:r>
              <a:rPr sz="750" b="0">
                <a:solidFill>
                  <a:srgbClr val="7890B2"/>
                </a:solidFill>
              </a:rPr>
              <a:t>TELCO DIGITAL  ·  SHARED INTELLIGENCE POC</a:t>
            </a:r>
          </a:p>
        </p:txBody>
      </p:sp>
    </p:spTree>
    <p:extLst>
      <p:ext uri="{BB962C8B-B14F-4D97-AF65-F5344CB8AC3E}">
        <p14:creationId xmlns:p14="http://schemas.microsoft.com/office/powerpoint/2010/main" val="8156175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261E28E-3EF1-4606-9B34-B7041E23CE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72c5637544b19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7DEEB-D15D-486B-948C-3B082AD9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AFB18-11B8-4A64-9542-22BA2AE8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04 · WHY GRAPH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5F317-6F0F-4199-B090-17599E59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05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1165E-F2FA-402D-9FEB-C9A9A43F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6E4F1-296C-44FA-A6B0-1EB5405F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19050">
            <a:solidFill>
              <a:srgbClr val="EAF2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66047-77DC-4AF5-8F83-C5F44F79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AF2FF"/>
                </a:solidFill>
              </a:defRPr>
            </a:pPr>
            <a:r>
              <a:rPr sz="3000" b="1">
                <a:solidFill>
                  <a:srgbClr val="EAF2FF"/>
                </a:solidFill>
              </a:rPr>
              <a:t>Graphs reveal context hidden across joins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0E810-308F-437E-BE16-2683A7B1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9D3"/>
                </a:solidFill>
              </a:defRPr>
            </a:pPr>
            <a:r>
              <a:rPr sz="1425" b="0">
                <a:solidFill>
                  <a:srgbClr val="A9B9D3"/>
                </a:solidFill>
              </a:rPr>
              <a:t>Multi-hop relationships turn isolated transactions into connected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7817E-DE22-4C8F-983D-0D8F61EE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86359-06EF-481B-A0C1-B0201E3C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9F23D-C424-44BF-93DC-9F3EE427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EACBA-E530-4EDA-9EE4-9E31DC0D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9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FD1B5F-12EC-4BF3-B1D4-AA8976EA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43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6C2040-5DAC-4171-945B-70DE6CA4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BA9ED3-FA91-4738-97E7-58F3ED2E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E8F9"/>
                </a:solidFill>
              </a:defRPr>
            </a:pPr>
            <a:r>
              <a:rPr sz="1125" b="1">
                <a:solidFill>
                  <a:srgbClr val="67E8F9"/>
                </a:solidFill>
              </a:rPr>
              <a:t>FRAUD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265A39-B8B9-4F3F-9C6D-3E7A2ED7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Shared devices, shared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wallets, merchant funnels,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circular movement, and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proximity to known fraud.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8B248-70E6-422E-8614-1D9AA4CB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C4D38C-33FA-461F-ADBF-F7708AB8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43DE66-4323-4CA6-8AE1-6D895CCF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BA6BC-DDEA-4B2F-BAB4-48CED34E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67BC90-36D4-4449-B6FD-6699EFFF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18A8CB-AB52-4A81-9E95-A6963E00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81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7183B4-E81E-4EC9-9F69-91B9F850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E8F9"/>
                </a:solidFill>
              </a:defRPr>
            </a:pPr>
            <a:r>
              <a:rPr sz="1125" b="1">
                <a:solidFill>
                  <a:srgbClr val="67E8F9"/>
                </a:solidFill>
              </a:rPr>
              <a:t>CUSTOMER 360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CA6969-F22A-4F88-9CFD-DD042EF0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339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A traversable neighbourhood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across customer, device,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wallet, merchant, plan, and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travel context.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C07FE6-8092-4761-BD8F-741A4E84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51D49D-3AF6-4DAB-A7D0-B46596E9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EBB34A-5B9B-46D0-90C1-A33106AF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D902DB-DEC8-4E4E-B25D-8B920FD0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86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CA46DD-0242-455C-B9CC-2B5892F2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71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942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B3BC88-F03D-484A-B061-C6E2661E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57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1D742F-558F-4649-ACA9-F7DCC6F7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E8F9"/>
                </a:solidFill>
              </a:defRPr>
            </a:pPr>
            <a:r>
              <a:rPr sz="1125" b="1">
                <a:solidFill>
                  <a:srgbClr val="67E8F9"/>
                </a:solidFill>
              </a:rPr>
              <a:t>EXPLANATION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E9FB7A-43A2-44E6-96A8-DD75A06E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339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Evidence paths show why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context matters instead of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returning an unexplained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risk score.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C19A21-0E80-478B-AAAF-8B79E550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90B2"/>
                </a:solidFill>
              </a:defRPr>
            </a:pPr>
            <a:r>
              <a:rPr sz="750" b="0">
                <a:solidFill>
                  <a:srgbClr val="7890B2"/>
                </a:solidFill>
              </a:rPr>
              <a:t>TELCO DIGITAL  ·  SHARED INTELLIGENCE POC</a:t>
            </a:r>
          </a:p>
        </p:txBody>
      </p:sp>
    </p:spTree>
    <p:extLst>
      <p:ext uri="{BB962C8B-B14F-4D97-AF65-F5344CB8AC3E}">
        <p14:creationId xmlns:p14="http://schemas.microsoft.com/office/powerpoint/2010/main" val="13947715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261E28E-3EF1-4606-9B34-B7041E23CE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8e8bdf593446c7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77E56-CE9F-49FD-8118-C10A96DD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60537-A197-4B18-AE0E-0E936CD3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05 · FEATURE CONTRACT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14C6F-786C-4808-8601-9DBE4446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06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2F4BB-3BAC-4948-A63F-BF7FCA0D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9E222-0AB4-419A-89FE-DC9F0900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19050">
            <a:solidFill>
              <a:srgbClr val="EAF2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C6398-7410-4942-9B55-22773449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AF2FF"/>
                </a:solidFill>
              </a:defRPr>
            </a:pPr>
            <a:r>
              <a:rPr sz="3000" b="1">
                <a:solidFill>
                  <a:srgbClr val="EAF2FF"/>
                </a:solidFill>
              </a:rPr>
              <a:t>One reusable feature contract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12165-1346-4CE5-8B09-0583E1BD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9D3"/>
                </a:solidFill>
              </a:defRPr>
            </a:pPr>
            <a:r>
              <a:rPr sz="1425" b="0">
                <a:solidFill>
                  <a:srgbClr val="A9B9D3"/>
                </a:solidFill>
              </a:rPr>
              <a:t>CustomerFeatureService(customer_ref, as_of) joins bounded relational and graph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D73883-7E50-4714-8B09-47E5A17F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35BBD-32BA-4149-8A16-ECAB1E5F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402E5-7CFF-42FA-9BA6-469D462A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</a:defRPr>
            </a:pPr>
            <a:r>
              <a:rPr sz="2550" b="1">
                <a:solidFill>
                  <a:srgbClr val="EAF2FF"/>
                </a:solidFill>
              </a:rPr>
              <a:t>8 groups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04188-5D92-4CE2-B4A3-D7B852E7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9D3"/>
                </a:solidFill>
              </a:defRPr>
            </a:pPr>
            <a:r>
              <a:rPr sz="1200" b="0">
                <a:solidFill>
                  <a:srgbClr val="A9B9D3"/>
                </a:solidFill>
              </a:rPr>
              <a:t>Temporal feature families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949165-4190-4EF0-B833-B5F905E8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90B2"/>
                </a:solidFill>
              </a:defRPr>
            </a:pPr>
            <a:r>
              <a:rPr sz="750" b="0">
                <a:solidFill>
                  <a:srgbClr val="7890B2"/>
                </a:solidFill>
              </a:rPr>
              <a:t>Usage to campaigns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6478C1-E997-4318-AA79-9315FA78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FF2EFE-B01A-45CD-9B8F-7F6ACF4A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752A62-0F49-4872-9C67-9513D691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</a:defRPr>
            </a:pPr>
            <a:r>
              <a:rPr sz="2550" b="1">
                <a:solidFill>
                  <a:srgbClr val="EAF2FF"/>
                </a:solidFill>
              </a:rPr>
              <a:t>v1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AEF515-691E-493D-BA9C-4F55EA01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9D3"/>
                </a:solidFill>
              </a:defRPr>
            </a:pPr>
            <a:r>
              <a:rPr sz="1200" b="0">
                <a:solidFill>
                  <a:srgbClr val="A9B9D3"/>
                </a:solidFill>
              </a:rPr>
              <a:t>customer-features-v1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B48DF4-4535-44C1-92E4-ECE48024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90B2"/>
                </a:solidFill>
              </a:defRPr>
            </a:pPr>
            <a:r>
              <a:rPr sz="750" b="0">
                <a:solidFill>
                  <a:srgbClr val="7890B2"/>
                </a:solidFill>
              </a:rPr>
              <a:t>Versioned contract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87A769-436F-47A1-9C3A-C8B73C75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C2E66B-824C-4F90-8668-BE130736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ECA1E8-564B-4BC8-BB51-6FD9C1F9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</a:defRPr>
            </a:pPr>
            <a:r>
              <a:rPr sz="2550" b="1">
                <a:solidFill>
                  <a:srgbClr val="EAF2FF"/>
                </a:solidFill>
              </a:rPr>
              <a:t>UUID5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651C29-49BF-4C83-8DE4-A2E27A47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9D3"/>
                </a:solidFill>
              </a:defRPr>
            </a:pPr>
            <a:r>
              <a:rPr sz="1200" b="0">
                <a:solidFill>
                  <a:srgbClr val="A9B9D3"/>
                </a:solidFill>
              </a:rPr>
              <a:t>Deterministic snapshot identity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E65B78-ED71-439E-B174-43C62975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90B2"/>
                </a:solidFill>
              </a:defRPr>
            </a:pPr>
            <a:r>
              <a:rPr sz="750" b="0">
                <a:solidFill>
                  <a:srgbClr val="7890B2"/>
                </a:solidFill>
              </a:rPr>
              <a:t>Idempotent materialization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AE800A-EDEB-4B2C-A64A-A984A037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90B2"/>
                </a:solidFill>
              </a:defRPr>
            </a:pPr>
            <a:r>
              <a:rPr sz="750" b="0">
                <a:solidFill>
                  <a:srgbClr val="7890B2"/>
                </a:solidFill>
              </a:rPr>
              <a:t>TELCO DIGITAL  ·  SHARED INTELLIGENCE POC</a:t>
            </a:r>
          </a:p>
        </p:txBody>
      </p:sp>
    </p:spTree>
    <p:extLst>
      <p:ext uri="{BB962C8B-B14F-4D97-AF65-F5344CB8AC3E}">
        <p14:creationId xmlns:p14="http://schemas.microsoft.com/office/powerpoint/2010/main" val="10491486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261E28E-3EF1-4606-9B34-B7041E23CE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e44c8d45244f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FEFF4-5B8D-408A-AF48-64052100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2AED4-CA97-40C3-AABE-B545BB46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06 · CUSTOMER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E7738-5B51-462C-B8B9-7046B150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07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99F39-8B13-42C6-A266-CF41D328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E5564-A8FD-4847-B133-C6CC712B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19050">
            <a:solidFill>
              <a:srgbClr val="EAF2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B5A2A-8D09-464E-B239-71A6009D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AF2FF"/>
                </a:solidFill>
              </a:defRPr>
            </a:pPr>
            <a:r>
              <a:rPr sz="3000" b="1">
                <a:solidFill>
                  <a:srgbClr val="EAF2FF"/>
                </a:solidFill>
              </a:rPr>
              <a:t>Memory → behaviour → churn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ABB47-EAAF-4149-AB0B-9DFC9BE6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9D3"/>
                </a:solidFill>
              </a:defRPr>
            </a:pPr>
            <a:r>
              <a:rPr sz="1425" b="0">
                <a:solidFill>
                  <a:srgbClr val="A9B9D3"/>
                </a:solidFill>
              </a:rPr>
              <a:t>Each layer adds interpretation while preserving the evidence below 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74B20-07C9-410B-BF62-CCB2AFA7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EB91B-C0BC-4F08-A9B5-19CBBB4E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773600-500B-46C8-A79B-1A32E934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7A20A-CE0A-40FF-875F-34773B60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9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20AEE-8DFB-4282-8FEB-8829C932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43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E53B41-0480-41F4-8AD7-01962728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0523A3-7D72-4782-898D-ADACC4E6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E8F9"/>
                </a:solidFill>
              </a:defRPr>
            </a:pPr>
            <a:r>
              <a:rPr sz="1125" b="1">
                <a:solidFill>
                  <a:srgbClr val="67E8F9"/>
                </a:solidFill>
              </a:rPr>
              <a:t>EVENT 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F69A7-AF69-4CC6-8974-D75F35AA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Raw travel events become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episodes; retrieval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prioritizes the customer's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own similar history.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1F2D8B-E33C-45DC-B9AE-75288003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E0FEEE-4239-44D3-B077-36CFF6C8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39FFDF-CFBF-4811-96CF-B738A7BC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A14DBA-B96C-4A40-8020-7082F8AD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8C5E9E-780D-47AE-BDE6-5B8F3C6F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4684E1-FD33-4740-A817-A2846C8C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81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B23CCB-22D1-496D-9E26-49BE197B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E8F9"/>
                </a:solidFill>
              </a:defRPr>
            </a:pPr>
            <a:r>
              <a:rPr sz="1125" b="1">
                <a:solidFill>
                  <a:srgbClr val="67E8F9"/>
                </a:solidFill>
              </a:rPr>
              <a:t>BEHAVIOUR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FE703A-74B9-4FE5-99DD-46EAC609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339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Evidence-backed segments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summarize patterns without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replacing the underlying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facts.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C27D4C-9280-4C71-BDEA-62C386B8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195006-BBEF-4CF7-AB61-5A536793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0F838D-0F04-414A-BAAF-84B6278C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F187FA-7454-49CF-B9E5-B4965F67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86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C9B6FD-40D2-442A-AF84-72279595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71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942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EBC163-6C34-4A22-A7F6-9ABD8506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57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A305F6-97C7-4343-BA46-0BD142A2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E8F9"/>
                </a:solidFill>
              </a:defRPr>
            </a:pPr>
            <a:r>
              <a:rPr sz="1125" b="1">
                <a:solidFill>
                  <a:srgbClr val="67E8F9"/>
                </a:solidFill>
              </a:rPr>
              <a:t>CHURN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E09A61-2E16-48AD-8A8C-0E0A6943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339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An interpretable baseline is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compared with a stronger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model; predictions remain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auditable outputs.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C89B64-22D9-4EEE-BACB-466D7E0F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90B2"/>
                </a:solidFill>
              </a:defRPr>
            </a:pPr>
            <a:r>
              <a:rPr sz="750" b="0">
                <a:solidFill>
                  <a:srgbClr val="7890B2"/>
                </a:solidFill>
              </a:rPr>
              <a:t>TELCO DIGITAL  ·  SHARED INTELLIGENCE POC</a:t>
            </a:r>
          </a:p>
        </p:txBody>
      </p:sp>
    </p:spTree>
    <p:extLst>
      <p:ext uri="{BB962C8B-B14F-4D97-AF65-F5344CB8AC3E}">
        <p14:creationId xmlns:p14="http://schemas.microsoft.com/office/powerpoint/2010/main" val="5928459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261E28E-3EF1-4606-9B34-B7041E23CE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a0a742c204264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6A492-A079-45A0-9EEE-92F649C7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2D3F3-76C3-426D-B082-B89FEFED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07 · ACTIONABLE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A81AE-8117-45E0-A72D-F93AE006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08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D9F1C-8BF2-4080-87B7-BC6B0AAA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F3548-8F02-4514-B561-16D1E915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19050">
            <a:solidFill>
              <a:srgbClr val="EAF2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3F27C-7D26-4ED2-AF3D-1AE38685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AF2FF"/>
                </a:solidFill>
              </a:defRPr>
            </a:pPr>
            <a:r>
              <a:rPr sz="3000" b="1">
                <a:solidFill>
                  <a:srgbClr val="EAF2FF"/>
                </a:solidFill>
              </a:rPr>
              <a:t>Three capabilities, one governance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43BA0-3E44-4E5A-8F89-B61A328C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9D3"/>
                </a:solidFill>
              </a:defRPr>
            </a:pPr>
            <a:r>
              <a:rPr sz="1425" b="0">
                <a:solidFill>
                  <a:srgbClr val="A9B9D3"/>
                </a:solidFill>
              </a:rPr>
              <a:t>Recommendations, fraud, and forecasting propose evidence-backed actions without executing policy.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058AE-870D-4AA1-8AED-53CB75BA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82185-495F-489B-9487-068320E5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488DD-657C-438C-8624-00759A2C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5BAB84-6F97-4D2D-A243-000A235A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9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28F1E-A528-4A49-BB1F-99FC6319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43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F3B6DB-934C-4EC2-9F56-15DF1760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91EAE3-BEE3-48E7-BB1C-B1A9F8E4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E8F9"/>
                </a:solidFill>
              </a:defRPr>
            </a:pPr>
            <a:r>
              <a:rPr sz="1125" b="1">
                <a:solidFill>
                  <a:srgbClr val="67E8F9"/>
                </a:solidFill>
              </a:rPr>
              <a:t>RECOMMEND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76113E-644E-491D-9709-9EBB767B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Generate only from the real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catalogue, rank candidates,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and expose uncertainty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modes.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608E5C-C357-45CE-A8FD-DEB8E44F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B7C4FF-5E44-4943-9207-845354D1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CA27D6-65C9-453A-B627-B1BAB974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6ED08F-B987-4F06-9C09-03C93182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9EA7FC-3223-43D3-9B2E-18A963ED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BD7450-F547-485E-9F45-CB5C5582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81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5B377F-8DE3-4581-A1A1-632F95DF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E8F9"/>
                </a:solidFill>
              </a:defRPr>
            </a:pPr>
            <a:r>
              <a:rPr sz="1125" b="1">
                <a:solidFill>
                  <a:srgbClr val="67E8F9"/>
                </a:solidFill>
              </a:rPr>
              <a:t>GRAPH FRAUD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87A0EC-4565-4DCA-B1A2-870FB50A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339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Combine transaction rules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with shared-device,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neighbourhood, and two-hop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graph risk.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CF1314-1F35-4420-8234-6615A9EE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BF9A96-F731-443C-AE01-FA0EF538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BED8BD-D131-4120-B67D-75DCE948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E82DD5-EA4F-4311-8BB0-51BA4183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86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BC7A0B-6F38-458C-B7C9-90F167CD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71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942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BA27E1-F184-43B2-9C5B-36C418E3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57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792275-96AD-4741-9672-836E5A70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E8F9"/>
                </a:solidFill>
              </a:defRPr>
            </a:pPr>
            <a:r>
              <a:rPr sz="1125" b="1">
                <a:solidFill>
                  <a:srgbClr val="67E8F9"/>
                </a:solidFill>
              </a:rPr>
              <a:t>SFA FORECAST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8FE277-2050-42A6-90E6-B514A1E3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339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Benchmark naive and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moving-average forecasts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before translating stockout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risk into proposed actions.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902DC1-F94A-4DCA-81AB-3D40FFCC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90B2"/>
                </a:solidFill>
              </a:defRPr>
            </a:pPr>
            <a:r>
              <a:rPr sz="750" b="0">
                <a:solidFill>
                  <a:srgbClr val="7890B2"/>
                </a:solidFill>
              </a:rPr>
              <a:t>TELCO DIGITAL  ·  SHARED INTELLIGENCE POC</a:t>
            </a:r>
          </a:p>
        </p:txBody>
      </p:sp>
    </p:spTree>
    <p:extLst>
      <p:ext uri="{BB962C8B-B14F-4D97-AF65-F5344CB8AC3E}">
        <p14:creationId xmlns:p14="http://schemas.microsoft.com/office/powerpoint/2010/main" val="1247526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261E28E-3EF1-4606-9B34-B7041E23CE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b5942f01b443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7484D-BEDF-4E51-ACB4-64D50571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D2A7C-B7D1-42C4-9464-2528E2E6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08 · GOVERNANCE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2BEA6-498E-44BE-BEC7-AC62203C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09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498E4-B46E-40E9-9944-14808B85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3EBF3-81C7-4BDD-A9A2-172E77CB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19050">
            <a:solidFill>
              <a:srgbClr val="EAF2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3DF70-C3A0-451D-8A63-8FEA9840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AF2FF"/>
                </a:solidFill>
              </a:defRPr>
            </a:pPr>
            <a:r>
              <a:rPr sz="3000" b="1">
                <a:solidFill>
                  <a:srgbClr val="EAF2FF"/>
                </a:solidFill>
              </a:rPr>
              <a:t>The digital twin assembles context; the decision engine governs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B5691-AE80-461F-92ED-87ADD0C3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9D3"/>
                </a:solidFill>
              </a:defRPr>
            </a:pPr>
            <a:r>
              <a:rPr sz="1425" b="0">
                <a:solidFill>
                  <a:srgbClr val="A9B9D3"/>
                </a:solidFill>
              </a:rPr>
              <a:t>A computed twin provides a point-in-time view without becoming another source of truth.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A8452A-7227-4398-A127-1AD88560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BED1C-A96D-4C26-A382-F0D7873D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10DE50-658E-4DE6-BF3C-61411F15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</a:defRPr>
            </a:pPr>
            <a:r>
              <a:rPr sz="2550" b="1">
                <a:solidFill>
                  <a:srgbClr val="EAF2FF"/>
                </a:solidFill>
              </a:rPr>
              <a:t>9 lenses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54BA65-68A8-4BBF-AC28-0C3262F6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9D3"/>
                </a:solidFill>
              </a:defRPr>
            </a:pPr>
            <a:r>
              <a:rPr sz="1200" b="0">
                <a:solidFill>
                  <a:srgbClr val="A9B9D3"/>
                </a:solidFill>
              </a:rPr>
              <a:t>Observed to Recommended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1866FE-9DB0-4742-81E2-88514072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90B2"/>
                </a:solidFill>
              </a:defRPr>
            </a:pPr>
            <a:r>
              <a:rPr sz="750" b="0">
                <a:solidFill>
                  <a:srgbClr val="7890B2"/>
                </a:solidFill>
              </a:rPr>
              <a:t>Unknown stays visible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BF0768-CA22-4C43-BBDB-D6CBB763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4F82C3-4955-49A9-8A74-598DF9F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53E4F6-B800-4092-8245-DAA6B567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</a:defRPr>
            </a:pPr>
            <a:r>
              <a:rPr sz="2550" b="1">
                <a:solidFill>
                  <a:srgbClr val="EAF2FF"/>
                </a:solidFill>
              </a:rPr>
              <a:t>1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67F9C2-4A36-4809-8273-7B2A8A56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9D3"/>
                </a:solidFill>
              </a:defRPr>
            </a:pPr>
            <a:r>
              <a:rPr sz="1200" b="0">
                <a:solidFill>
                  <a:srgbClr val="A9B9D3"/>
                </a:solidFill>
              </a:rPr>
              <a:t>Customer + selected as_of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04E032-D005-403A-A7D7-C6E1823D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90B2"/>
                </a:solidFill>
              </a:defRPr>
            </a:pPr>
            <a:r>
              <a:rPr sz="750" b="0">
                <a:solidFill>
                  <a:srgbClr val="7890B2"/>
                </a:solidFill>
              </a:rPr>
              <a:t>Computed on demand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A182F6-211F-46C4-A858-33855788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9730B2-6299-4369-BB07-3B3F08C2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74DA9B-2034-4E58-95CF-FEBC9E85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2FF"/>
                </a:solidFill>
              </a:defRPr>
            </a:pPr>
            <a:r>
              <a:rPr sz="2550" b="1">
                <a:solidFill>
                  <a:srgbClr val="EAF2FF"/>
                </a:solidFill>
              </a:rPr>
              <a:t>NBA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841BE1-6E55-48FA-A6E7-F3F26363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9D3"/>
                </a:solidFill>
              </a:defRPr>
            </a:pPr>
            <a:r>
              <a:rPr sz="1200" b="0">
                <a:solidFill>
                  <a:srgbClr val="A9B9D3"/>
                </a:solidFill>
              </a:rPr>
              <a:t>Rules + rank + 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875D6E-ADFB-4AF1-94F2-A13FBF9E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90B2"/>
                </a:solidFill>
              </a:defRPr>
            </a:pPr>
            <a:r>
              <a:rPr sz="750" b="0">
                <a:solidFill>
                  <a:srgbClr val="7890B2"/>
                </a:solidFill>
              </a:rPr>
              <a:t>Alternatives explained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CC3B14-23BE-4958-8DF5-ADA10B1C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90B2"/>
                </a:solidFill>
              </a:defRPr>
            </a:pPr>
            <a:r>
              <a:rPr sz="750" b="0">
                <a:solidFill>
                  <a:srgbClr val="7890B2"/>
                </a:solidFill>
              </a:rPr>
              <a:t>TELCO DIGITAL  ·  SHARED INTELLIGENCE POC</a:t>
            </a:r>
          </a:p>
        </p:txBody>
      </p:sp>
    </p:spTree>
    <p:extLst>
      <p:ext uri="{BB962C8B-B14F-4D97-AF65-F5344CB8AC3E}">
        <p14:creationId xmlns:p14="http://schemas.microsoft.com/office/powerpoint/2010/main" val="15767920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261E28E-3EF1-4606-9B34-B7041E23CE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47f93e39c947dc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1E6DB-73B0-4323-A3C8-3EC77242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>
              <a:alpha val="9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2CCBE-97BA-4B30-AB9E-CAA87C2B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09 · DELIVERED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37DD3-A25E-47DA-A39E-176CDD4F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10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088B5-EC2E-424B-A4EC-35E56C58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29F51-4299-4B6E-B663-D17DFFFC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19050">
            <a:solidFill>
              <a:srgbClr val="EAF2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6309B8-32EE-49F6-A1CD-6025E7FB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AF2FF"/>
                </a:solidFill>
              </a:defRPr>
            </a:pPr>
            <a:r>
              <a:rPr sz="3000" b="1">
                <a:solidFill>
                  <a:srgbClr val="EAF2FF"/>
                </a:solidFill>
              </a:rPr>
              <a:t>Delivered technical surface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506DA-CA22-47B5-B3BF-43DC25BE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9D3"/>
                </a:solidFill>
              </a:defRPr>
            </a:pPr>
            <a:r>
              <a:rPr sz="1425" b="0">
                <a:solidFill>
                  <a:srgbClr val="A9B9D3"/>
                </a:solidFill>
              </a:rPr>
              <a:t>FastAPI, the showcase UI, and Copilot expose the evidence chain for discussion.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867D38-EBAD-4807-805F-FCC504B6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B0E63-9F53-47B7-B794-7D41654E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889B7-9836-4A26-BC71-094BF39D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BA8EA-360D-43B7-B92B-A7F0C4DF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95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1195E9-C302-4F0C-A9E2-6F5ED95C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433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74D98-EE61-4FD2-B486-32A12EAD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7DC57-497C-45E3-A877-2415A22F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E8F9"/>
                </a:solidFill>
              </a:defRPr>
            </a:pPr>
            <a:r>
              <a:rPr sz="1125" b="1">
                <a:solidFill>
                  <a:srgbClr val="67E8F9"/>
                </a:solidFill>
              </a:rPr>
              <a:t>FASTAPI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F21D5D-CBD7-4AB3-8F04-57E0D09B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Stable typed routes wrap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application services; route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files contain almost no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business logic.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714350-A5CF-4DB6-BABA-1A42BFF6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1F8641-AD31-49CB-A78E-D2D9B07F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B3EF4C-6181-4CDE-9403-4F9BEDC8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46DA80-355D-429C-9918-A0DE86DC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CBD572-6611-4E45-B9A1-6330A4BD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CBC1ED-9A74-4C1F-BE82-5DEFAF8E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181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49E438-25D8-4F13-AACC-05910EBC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E8F9"/>
                </a:solidFill>
              </a:defRPr>
            </a:pPr>
            <a:r>
              <a:rPr sz="1125" b="1">
                <a:solidFill>
                  <a:srgbClr val="67E8F9"/>
                </a:solidFill>
              </a:rPr>
              <a:t>SHOWCASE UI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0AA13F-8873-44FC-BE73-455FBD22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5339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Intelligence overview,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customer 360, graph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explorer, and capability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status expose the evidence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chain.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A7B4E3-8164-41A5-838E-78778994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33845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9682D5-2BE5-42C5-9FC5-1B2B56AA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7147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86D632-D7C7-4039-9203-33C8F54A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43A">
              <a:alpha val="96078"/>
            </a:srgbClr>
          </a:solidFill>
          <a:ln xmlns:a="http://schemas.openxmlformats.org/drawingml/2006/main" w="11430">
            <a:solidFill>
              <a:srgbClr val="EAF2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986F16-BF31-4442-B02C-A5C4D283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086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AE1F0B-9AB3-4643-B35A-2237CDB9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171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942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F923A0-E919-41CF-B452-7E5D3959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257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5CD1E2-04C5-4871-8FFB-5E02B05D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9243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E8F9"/>
                </a:solidFill>
              </a:defRPr>
            </a:pPr>
            <a:r>
              <a:rPr sz="1125" b="1">
                <a:solidFill>
                  <a:srgbClr val="67E8F9"/>
                </a:solidFill>
              </a:rPr>
              <a:t>COPILOT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151DC7-2058-42AB-8099-EAA96174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533900"/>
            <a:ext cx="292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Natural-language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presentation sits over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structured intelligence; it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is not a source of facts or</a:t>
            </a:r>
          </a:p>
          <a:p xmlns:a="http://schemas.openxmlformats.org/drawingml/2006/main">
            <a:pPr algn="l">
              <a:defRPr sz="1275" b="0">
                <a:solidFill>
                  <a:srgbClr val="EAF2FF"/>
                </a:solidFill>
              </a:defRPr>
            </a:pPr>
            <a:r>
              <a:rPr sz="1275" b="0">
                <a:solidFill>
                  <a:srgbClr val="EAF2FF"/>
                </a:solidFill>
              </a:rPr>
              <a:t>scores.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E3E5ED-236D-4590-AD87-09C8A186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90B2"/>
                </a:solidFill>
              </a:defRPr>
            </a:pPr>
            <a:r>
              <a:rPr sz="750" b="0">
                <a:solidFill>
                  <a:srgbClr val="7890B2"/>
                </a:solidFill>
              </a:rPr>
              <a:t>TELCO DIGITAL  ·  SHARED INTELLIGENCE POC</a:t>
            </a:r>
          </a:p>
        </p:txBody>
      </p:sp>
    </p:spTree>
    <p:extLst>
      <p:ext uri="{BB962C8B-B14F-4D97-AF65-F5344CB8AC3E}">
        <p14:creationId xmlns:p14="http://schemas.microsoft.com/office/powerpoint/2010/main" val="1205839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2026-09-01T22:12:08.5450000Z</dcterms:created>
  <dcterms:modified xsi:type="dcterms:W3CDTF">2026-09-01T22:12:08.5450000Z</dcterms:modified>
</coreProperties>
</file>